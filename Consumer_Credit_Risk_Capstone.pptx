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0E8C8C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2540"/>
                    </a:solidFill>
                    <a:latin typeface="Calibri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12</c:v>
                </c:pt>
                <c:pt idx="2">
                  <c:v>18</c:v>
                </c:pt>
                <c:pt idx="3">
                  <c:v>25</c:v>
                </c:pt>
                <c:pt idx="4">
                  <c:v>33</c:v>
                </c:pt>
                <c:pt idx="5">
                  <c:v>42</c:v>
                </c:pt>
                <c:pt idx="6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3F-4025-BC3F-51BE9C0658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6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l"/>
        <c:majorGridlines>
          <c:spPr>
            <a:ln w="6350" cap="flat">
              <a:solidFill>
                <a:srgbClr val="EA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Unemployment %</c:v>
                </c:pt>
              </c:strCache>
            </c:strRef>
          </c:tx>
          <c:spPr>
            <a:ln w="31750" cap="flat">
              <a:solidFill>
                <a:srgbClr val="0E8C8C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'00</c:v>
                </c:pt>
                <c:pt idx="1">
                  <c:v>'02</c:v>
                </c:pt>
                <c:pt idx="2">
                  <c:v>'04</c:v>
                </c:pt>
                <c:pt idx="3">
                  <c:v>'06</c:v>
                </c:pt>
                <c:pt idx="4">
                  <c:v>'08</c:v>
                </c:pt>
                <c:pt idx="5">
                  <c:v>'09</c:v>
                </c:pt>
                <c:pt idx="6">
                  <c:v>'11</c:v>
                </c:pt>
                <c:pt idx="7">
                  <c:v>'13</c:v>
                </c:pt>
                <c:pt idx="8">
                  <c:v>'15</c:v>
                </c:pt>
                <c:pt idx="9">
                  <c:v>'17</c:v>
                </c:pt>
                <c:pt idx="10">
                  <c:v>'19</c:v>
                </c:pt>
                <c:pt idx="11">
                  <c:v>'20</c:v>
                </c:pt>
                <c:pt idx="12">
                  <c:v>'22</c:v>
                </c:pt>
                <c:pt idx="13">
                  <c:v>'24</c:v>
                </c:pt>
                <c:pt idx="14">
                  <c:v>'26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6.8</c:v>
                </c:pt>
                <c:pt idx="1">
                  <c:v>7.6</c:v>
                </c:pt>
                <c:pt idx="2">
                  <c:v>7.1</c:v>
                </c:pt>
                <c:pt idx="3">
                  <c:v>6.3</c:v>
                </c:pt>
                <c:pt idx="4">
                  <c:v>6.1</c:v>
                </c:pt>
                <c:pt idx="5">
                  <c:v>8.8000000000000007</c:v>
                </c:pt>
                <c:pt idx="6">
                  <c:v>7.5</c:v>
                </c:pt>
                <c:pt idx="7">
                  <c:v>7.1</c:v>
                </c:pt>
                <c:pt idx="8">
                  <c:v>6.9</c:v>
                </c:pt>
                <c:pt idx="9">
                  <c:v>6.3</c:v>
                </c:pt>
                <c:pt idx="10">
                  <c:v>5.7</c:v>
                </c:pt>
                <c:pt idx="11">
                  <c:v>14.2</c:v>
                </c:pt>
                <c:pt idx="12">
                  <c:v>5.3</c:v>
                </c:pt>
                <c:pt idx="13">
                  <c:v>6.3</c:v>
                </c:pt>
                <c:pt idx="14">
                  <c:v>6.9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752-477C-B94A-003B3AABAD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6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6350" cap="flat">
              <a:solidFill>
                <a:srgbClr val="EA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6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Perfect</c:v>
                </c:pt>
              </c:strCache>
            </c:strRef>
          </c:tx>
          <c:spPr>
            <a:ln w="31750" cap="flat">
              <a:solidFill>
                <a:srgbClr val="64768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AD-4187-A76B-09C3797993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(isotonic)</c:v>
                </c:pt>
              </c:strCache>
            </c:strRef>
          </c:tx>
          <c:spPr>
            <a:ln w="31750" cap="flat">
              <a:solidFill>
                <a:srgbClr val="0E8C8C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0.09</c:v>
                </c:pt>
                <c:pt idx="1">
                  <c:v>0.19</c:v>
                </c:pt>
                <c:pt idx="2">
                  <c:v>0.3</c:v>
                </c:pt>
                <c:pt idx="3">
                  <c:v>0.39</c:v>
                </c:pt>
                <c:pt idx="4">
                  <c:v>0.49</c:v>
                </c:pt>
                <c:pt idx="5">
                  <c:v>0.57999999999999996</c:v>
                </c:pt>
                <c:pt idx="6">
                  <c:v>0.69</c:v>
                </c:pt>
                <c:pt idx="7">
                  <c:v>0.8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AAD-4187-A76B-09C3797993E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Before (class-weighted)</c:v>
                </c:pt>
              </c:strCache>
            </c:strRef>
          </c:tx>
          <c:spPr>
            <a:ln w="31750" cap="flat">
              <a:solidFill>
                <a:srgbClr val="C2563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0.04</c:v>
                </c:pt>
                <c:pt idx="1">
                  <c:v>0.06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0.27</c:v>
                </c:pt>
                <c:pt idx="6">
                  <c:v>0.35</c:v>
                </c:pt>
                <c:pt idx="7">
                  <c:v>0.44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AAD-4187-A76B-09C3797993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68A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4768A"/>
                    </a:solidFill>
                    <a:latin typeface="Arial"/>
                  </a:rPr>
                  <a:t>Mean predicted PD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6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A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6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A3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|SHAP|</c:v>
                </c:pt>
              </c:strCache>
            </c:strRef>
          </c:tx>
          <c:spPr>
            <a:solidFill>
              <a:srgbClr val="0E8C8C"/>
            </a:solidFill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short-tenure flag</c:v>
                </c:pt>
                <c:pt idx="1">
                  <c:v>delinq flag</c:v>
                </c:pt>
                <c:pt idx="2">
                  <c:v>pub-rec flag</c:v>
                </c:pt>
                <c:pt idx="3">
                  <c:v>vintage quarter</c:v>
                </c:pt>
                <c:pt idx="4">
                  <c:v>employment yrs</c:v>
                </c:pt>
                <c:pt idx="5">
                  <c:v>log income</c:v>
                </c:pt>
                <c:pt idx="6">
                  <c:v>revol util</c:v>
                </c:pt>
                <c:pt idx="7">
                  <c:v>open-acc band</c:v>
                </c:pt>
                <c:pt idx="8">
                  <c:v>vintage year</c:v>
                </c:pt>
                <c:pt idx="9">
                  <c:v>purpose tier</c:v>
                </c:pt>
                <c:pt idx="10">
                  <c:v>home ownership</c:v>
                </c:pt>
                <c:pt idx="11">
                  <c:v>loan amount</c:v>
                </c:pt>
                <c:pt idx="12">
                  <c:v>DTI</c:v>
                </c:pt>
                <c:pt idx="13">
                  <c:v>loan-to-income</c:v>
                </c:pt>
                <c:pt idx="14">
                  <c:v>FICO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1.2E-2</c:v>
                </c:pt>
                <c:pt idx="1">
                  <c:v>1.7999999999999999E-2</c:v>
                </c:pt>
                <c:pt idx="2">
                  <c:v>2.8000000000000001E-2</c:v>
                </c:pt>
                <c:pt idx="3">
                  <c:v>0.03</c:v>
                </c:pt>
                <c:pt idx="4">
                  <c:v>3.7999999999999999E-2</c:v>
                </c:pt>
                <c:pt idx="5">
                  <c:v>4.4999999999999998E-2</c:v>
                </c:pt>
                <c:pt idx="6">
                  <c:v>0.05</c:v>
                </c:pt>
                <c:pt idx="7">
                  <c:v>5.5E-2</c:v>
                </c:pt>
                <c:pt idx="8">
                  <c:v>6.4000000000000001E-2</c:v>
                </c:pt>
                <c:pt idx="9">
                  <c:v>8.2000000000000003E-2</c:v>
                </c:pt>
                <c:pt idx="10">
                  <c:v>0.09</c:v>
                </c:pt>
                <c:pt idx="11">
                  <c:v>0.109</c:v>
                </c:pt>
                <c:pt idx="12">
                  <c:v>0.158</c:v>
                </c:pt>
                <c:pt idx="13">
                  <c:v>0.23100000000000001</c:v>
                </c:pt>
                <c:pt idx="14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C0-4A73-B820-DA9D351785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E2A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%</c:v>
                </c:pt>
              </c:strCache>
            </c:strRef>
          </c:tx>
          <c:spPr>
            <a:solidFill>
              <a:srgbClr val="0E8C8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E8C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901-4D6F-AFC7-2E4580B274D7}"/>
              </c:ext>
            </c:extLst>
          </c:dPt>
          <c:dPt>
            <c:idx val="1"/>
            <c:invertIfNegative val="0"/>
            <c:bubble3D val="0"/>
            <c:spPr>
              <a:solidFill>
                <a:srgbClr val="E091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01-4D6F-AFC7-2E4580B274D7}"/>
              </c:ext>
            </c:extLst>
          </c:dPt>
          <c:dPt>
            <c:idx val="2"/>
            <c:invertIfNegative val="0"/>
            <c:bubble3D val="0"/>
            <c:spPr>
              <a:solidFill>
                <a:srgbClr val="C256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01-4D6F-AFC7-2E4580B274D7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F2540"/>
                    </a:solidFill>
                    <a:latin typeface="Calibri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Stage 1
Performing</c:v>
                </c:pt>
                <c:pt idx="1">
                  <c:v>Stage 2
SICR</c:v>
                </c:pt>
                <c:pt idx="2">
                  <c:v>Stage 3
Impaired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7.99</c:v>
                </c:pt>
                <c:pt idx="1">
                  <c:v>41.05</c:v>
                </c:pt>
                <c:pt idx="2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901-4D6F-AFC7-2E4580B274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A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1"/>
        <c:axPos val="l"/>
        <c:majorGridlines>
          <c:spPr>
            <a:ln w="6350" cap="flat">
              <a:solidFill>
                <a:srgbClr val="EA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ECL ($M)</c:v>
                </c:pt>
              </c:strCache>
            </c:strRef>
          </c:tx>
          <c:spPr>
            <a:solidFill>
              <a:srgbClr val="0E8C8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E8C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8C0-48E3-89BD-485AE4760022}"/>
              </c:ext>
            </c:extLst>
          </c:dPt>
          <c:dPt>
            <c:idx val="1"/>
            <c:invertIfNegative val="0"/>
            <c:bubble3D val="0"/>
            <c:spPr>
              <a:solidFill>
                <a:srgbClr val="E091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8C0-48E3-89BD-485AE4760022}"/>
              </c:ext>
            </c:extLst>
          </c:dPt>
          <c:dPt>
            <c:idx val="2"/>
            <c:invertIfNegative val="0"/>
            <c:bubble3D val="0"/>
            <c:spPr>
              <a:solidFill>
                <a:srgbClr val="C256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8C0-48E3-89BD-485AE4760022}"/>
              </c:ext>
            </c:extLst>
          </c:dPt>
          <c:dLbls>
            <c:numFmt formatCode="&quot;$&quot;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0" i="0" u="none" strike="noStrike">
                    <a:solidFill>
                      <a:srgbClr val="0F2540"/>
                    </a:solidFill>
                    <a:latin typeface="Calibri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Baseline
+0.0pp</c:v>
                </c:pt>
                <c:pt idx="1">
                  <c:v>Adverse
+2.7pp (GFC)</c:v>
                </c:pt>
                <c:pt idx="2">
                  <c:v>Severe
+4.5pp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56.8</c:v>
                </c:pt>
                <c:pt idx="1">
                  <c:v>65.599999999999994</c:v>
                </c:pt>
                <c:pt idx="2">
                  <c:v>73.3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8C0-48E3-89BD-485AE47600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A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</c:scaling>
        <c:delete val="1"/>
        <c:axPos val="l"/>
        <c:majorGridlines>
          <c:spPr>
            <a:ln w="6350" cap="flat">
              <a:solidFill>
                <a:srgbClr val="EA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388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[~20 min talk; 10 min Q&amp;A] Open here. One line: this project builds an end-to-end, decision-ready credit-risk pipeline on public data, with an architecture transferable to a credit union's own portfolio. Set the frame early: the headline isn't the model's accuracy, it's the provision number it produces.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business problem. A credit committee asks three questions in order: who defaults, how much to reserve today, how much more in a recession. Many mid-sized Canadian lenders still answer with a flat rate. Stress the stakes line: on a billion-dollar book this is tens of millions in misallocated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intellectual honesty slide. Explain the pivot: excluding grade/sub-grade/interest rate was deliberate — using them just reproduces the lender's own judgement. That caps AUC near 0.67. So I redefined success from discrimination to calibration and provisioning. Interviewers love that this was a reasoned choice, not a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layers left to right. The key point to land: the macro panel is never row-joined to loans — that separation is standard IFRS 9 and is what makes the methodology transferable to a Canadian portfolio even though training data is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brief. 2.26M raw to 1.35M resolved. The thing to emphasize is the two leakage guardrails — dropped post-outcome fields vs retained-but-not-modelled lender fields. This is what separates a real credit model from an academic one that looks too good.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findings: grade is monotonic (and that's why we exclude it), purpose separates risk (motivating the engineered tier), and crucially all correlations are weak — which is the justification for tree models over a linear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anchors for the stress design. The GFC is the largest sustained unemployment rise in 26 years (+2.7pp) — that becomes the adverse scenario. And insolvencies decoupled from unemployment during COVID, which is why elasticity is an assumption, not a fitted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Fifteen origination-time features in five families. The design lesson worth saying aloud: raw continuous values beat bands because binning discards signal. And the temporal split — train on history, test on the future — is the only split that prevents vintage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models, one framework. The story is the tie: two boosters converge on identical AUC from totally different architectures. That proves the ceiling is the feature set, not tuning. XGBoost wins on parsimony. Note the threshold is diagnostic only — ECL uses continuous PDs.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result — slow down here. Class weighting made raw probabilities worse than a base-rate guess. Isotonic calibration fixed the probability scale without touching rank order. Brier 0.2254 to 0.1576, beating the base rate. That single result is what licenses multiplying PDs by dollars.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Validation. The model holds 0.67 across 2017 and 2018 vintages — no degradation, so it generalises rather than memorising one period. Repeat the ceiling point: it's a property of the leakage-free feature set, the honest price of clean modelling.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confirms the model is economically sensible — FICO, loan-to-income, DTI dominate, directions match credit theory, and it's auditable down to a single loan for adverse-action notices. A model you can't explain can't be deployed.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payoff: feeding calibrated PDs into IFRS 9. Coverage rises 8% to 41% to 45% across stages — graduated treatment a flat rate can't produce. The flat rate would hold $23.2M vs $56.8M; the gap is the value of risk differentiation.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stress headline. Anchored, not round numbers: adverse replays the GFC, severe is deliberately beyond-sample. +15.5% and +29.0% uplift. Explain the two channels — every PD lifts AND loans migrate into lifetime-ECL Stage 2. Stage 3 is fixed because impairment is realised, not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recommendations. Adopt staged provisioning via a parallel run. Pre-position the stress buffer and monitor SICR migration monthly — it moves before losses. And recalibrate the three placeholder assumptions to internal data before any production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considerations and future work. The honest framing: the 0.67 ceiling is a data problem, not a model problem — richer data lifts it. Survival analysis for lifetime PD, an estimated macro elasticity, production hardening, and Canadian-native validation are the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thesis: the model is not the product, the provision number is. A modest but calibrated AUC does the three things a flat rate cannot — allocate reserves to loans that actually lose money, flag rising risk before default, and quantify the downturn buffer.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16385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10149840" y="-1097280"/>
            <a:ext cx="3474720" cy="3474720"/>
          </a:xfrm>
          <a:prstGeom prst="ellipse">
            <a:avLst/>
          </a:prstGeom>
          <a:solidFill>
            <a:srgbClr val="0E8C8C">
              <a:alpha val="65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Shape 2"/>
          <p:cNvSpPr/>
          <p:nvPr/>
        </p:nvSpPr>
        <p:spPr>
          <a:xfrm>
            <a:off x="9966960" y="4297680"/>
            <a:ext cx="3108960" cy="3108960"/>
          </a:xfrm>
          <a:prstGeom prst="ellipse">
            <a:avLst/>
          </a:prstGeom>
          <a:solidFill>
            <a:srgbClr val="16385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868680" cy="868680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127558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240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SPRINGBOARD DATA SCIENCE CAREER TRACK  ·  CAPSTONE THREE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Credit Risk Modelling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7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 Prediction with Canadian Macroeconomic Stress Testing for Credit-Union Decision Support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5257800"/>
            <a:ext cx="6766560" cy="0"/>
          </a:xfrm>
          <a:prstGeom prst="line">
            <a:avLst/>
          </a:prstGeom>
          <a:noFill/>
          <a:ln w="12700">
            <a:solidFill>
              <a:srgbClr val="33506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8"/>
          <p:cNvSpPr/>
          <p:nvPr/>
        </p:nvSpPr>
        <p:spPr>
          <a:xfrm>
            <a:off x="64008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Ikechukwu Jumbo</a:t>
            </a:r>
            <a:r>
              <a:rPr lang="en-US" sz="1300" dirty="0">
                <a:solidFill>
                  <a:srgbClr val="9D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June 2026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github.com/MIJUMBO/consumer-credit-risk-modelling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CONTEXT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 a credit committee must answer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IFRS 9, provisioning answers must be forward-looking and defensible — yet many mid-sized Canadian lenders still answer them with a single flat reserve rate.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" name="Shape 5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16385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9" name="Text 6"/>
          <p:cNvSpPr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08760" y="2212848"/>
            <a:ext cx="2448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2697480"/>
            <a:ext cx="2951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borrowers are likely to default?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68698" y="192024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3" name="Shape 10"/>
          <p:cNvSpPr/>
          <p:nvPr/>
        </p:nvSpPr>
        <p:spPr>
          <a:xfrm>
            <a:off x="4643018" y="2148840"/>
            <a:ext cx="457200" cy="457200"/>
          </a:xfrm>
          <a:prstGeom prst="ellipse">
            <a:avLst/>
          </a:prstGeom>
          <a:solidFill>
            <a:srgbClr val="16385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1"/>
          <p:cNvSpPr/>
          <p:nvPr/>
        </p:nvSpPr>
        <p:spPr>
          <a:xfrm>
            <a:off x="464301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237378" y="2212848"/>
            <a:ext cx="2448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643018" y="2697480"/>
            <a:ext cx="2951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should we set aside against them today?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097317" y="192024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8" name="Shape 15"/>
          <p:cNvSpPr/>
          <p:nvPr/>
        </p:nvSpPr>
        <p:spPr>
          <a:xfrm>
            <a:off x="8371637" y="2148840"/>
            <a:ext cx="457200" cy="457200"/>
          </a:xfrm>
          <a:prstGeom prst="ellipse">
            <a:avLst/>
          </a:prstGeom>
          <a:solidFill>
            <a:srgbClr val="16385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9" name="Text 16"/>
          <p:cNvSpPr/>
          <p:nvPr/>
        </p:nvSpPr>
        <p:spPr>
          <a:xfrm>
            <a:off x="8371637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965997" y="2212848"/>
            <a:ext cx="2448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371637" y="2697480"/>
            <a:ext cx="2951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more would a recession demand?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0080" y="3611880"/>
            <a:ext cx="10911535" cy="1371600"/>
          </a:xfrm>
          <a:prstGeom prst="roundRect">
            <a:avLst>
              <a:gd name="adj" fmla="val 5333"/>
            </a:avLst>
          </a:prstGeom>
          <a:solidFill>
            <a:srgbClr val="16385A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3" name="Text 20"/>
          <p:cNvSpPr/>
          <p:nvPr/>
        </p:nvSpPr>
        <p:spPr>
          <a:xfrm>
            <a:off x="96012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flat-rate fallback fails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60120" y="4206240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Over-provisions low-risk borrowers; under-provisions high-risk ones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credit-impaired exposures no differently from performing loans</a:t>
            </a:r>
            <a:endParaRPr lang="en-US" sz="125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no mechanism to translate an economic scenario into a provision number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932688" y="4187952"/>
            <a:ext cx="10326319" cy="749808"/>
          </a:xfrm>
          <a:prstGeom prst="rect">
            <a:avLst/>
          </a:prstGeom>
          <a:solidFill>
            <a:srgbClr val="16385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6" name="Text 23"/>
          <p:cNvSpPr/>
          <p:nvPr/>
        </p:nvSpPr>
        <p:spPr>
          <a:xfrm>
            <a:off x="960120" y="420624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Over-provisions low-risk borrowers; under-provisions high-risk ones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credit-impaired exposures no differently from performing loans</a:t>
            </a:r>
            <a:endParaRPr lang="en-US" sz="125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no mechanism to translate an economic scenario into a provision number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40080" y="5166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C2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stakes:  </a:t>
            </a:r>
            <a:r>
              <a:rPr lang="en-US" sz="13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billion-dollar consumer book, an imprecise ECL estimate can misallocate tens of millions in reserves — under-provisioning threatens capital adequacy in a downturn; over-provisioning ties up lendable capital.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&amp; SUCCESS CRITERIA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business question to a testable problem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10911535" cy="1234440"/>
          </a:xfrm>
          <a:prstGeom prst="roundRect">
            <a:avLst>
              <a:gd name="adj" fmla="val 5926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4"/>
          <p:cNvSpPr/>
          <p:nvPr/>
        </p:nvSpPr>
        <p:spPr>
          <a:xfrm>
            <a:off x="96012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60120" y="169164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leakage-free model, trained only on origination-time information, produce calibrated PDs accurate enough to (a) support IFRS 9 staging and provisioning, and (b) quantify how provisions change under adverse Canadian macro scenarios — giving a risk committee a defensible alternative to flat-rate reserving?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2697480"/>
            <a:ext cx="527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Revised criteria for success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063240"/>
            <a:ext cx="52728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12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stable discrimination  </a:t>
            </a: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materially better than random on an out-of-time test, stable across vintages</a:t>
            </a:r>
            <a:endParaRPr lang="en-US" sz="125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12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Bankable calibration  </a:t>
            </a: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Brier beating the base rate; mean PD ≈ observed default rate</a:t>
            </a:r>
            <a:endParaRPr lang="en-US" sz="125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12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IFRS 9 ECL  </a:t>
            </a: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staging, 12-month vs lifetime, baseline + stress table via one code path</a:t>
            </a:r>
            <a:endParaRPr lang="en-US" sz="125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12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explainability  </a:t>
            </a: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global and loan-level, for governance and adverse-action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78728" y="2697480"/>
            <a:ext cx="5272888" cy="2743200"/>
          </a:xfrm>
          <a:prstGeom prst="roundRect">
            <a:avLst>
              <a:gd name="adj" fmla="val 2667"/>
            </a:avLst>
          </a:prstGeom>
          <a:solidFill>
            <a:srgbClr val="16385A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2" name="Text 9"/>
          <p:cNvSpPr/>
          <p:nvPr/>
        </p:nvSpPr>
        <p:spPr>
          <a:xfrm>
            <a:off x="6553048" y="288036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that reshaped “success”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553048" y="3383280"/>
            <a:ext cx="4724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 targeted AUC ≥ 0.70. But excluding LendingClub’s own risk-pricing fields </a:t>
            </a:r>
            <a:r>
              <a:rPr lang="en-US" sz="12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(grade, sub-grade, interest rate)</a:t>
            </a: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which would teach the model to reproduce the lender’s judgement rather than borrower risk — imposes an honest ceiling near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 AUC.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553048" y="470916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therefore migrated from </a:t>
            </a:r>
            <a:r>
              <a:rPr lang="en-US" sz="1250" i="1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</a:t>
            </a: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and provisioning</a:t>
            </a: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exactly where a credit-risk practitioner locates it.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&amp; ARCHITECTURE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three-layer design on public data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333237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Shape 4"/>
          <p:cNvSpPr/>
          <p:nvPr/>
        </p:nvSpPr>
        <p:spPr>
          <a:xfrm>
            <a:off x="914400" y="1627632"/>
            <a:ext cx="502920" cy="502920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5"/>
          <p:cNvSpPr/>
          <p:nvPr/>
        </p:nvSpPr>
        <p:spPr>
          <a:xfrm>
            <a:off x="914400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54480" y="1664208"/>
            <a:ext cx="22350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554480" y="1901952"/>
            <a:ext cx="2235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Borrower risk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2395728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1,345,350 resolved LendingClub consumer loans (2007–2018). Application, credit profile, and final outcome.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6466" y="2286000"/>
            <a:ext cx="310896" cy="31089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29658" y="1371600"/>
            <a:ext cx="333237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4" name="Shape 10"/>
          <p:cNvSpPr/>
          <p:nvPr/>
        </p:nvSpPr>
        <p:spPr>
          <a:xfrm>
            <a:off x="4703978" y="1627632"/>
            <a:ext cx="502920" cy="502920"/>
          </a:xfrm>
          <a:prstGeom prst="ellipse">
            <a:avLst/>
          </a:prstGeom>
          <a:solidFill>
            <a:srgbClr val="16385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5" name="Text 11"/>
          <p:cNvSpPr/>
          <p:nvPr/>
        </p:nvSpPr>
        <p:spPr>
          <a:xfrm>
            <a:off x="4703978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5344058" y="1664208"/>
            <a:ext cx="22350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6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344058" y="1901952"/>
            <a:ext cx="2235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 conditions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703978" y="2395728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Five-indicator Canadian panel (Bank of Canada + Statistics Canada), 2000–2026, 318 monthly rows.</a:t>
            </a:r>
            <a:endParaRPr lang="en-US" sz="1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6045" y="2286000"/>
            <a:ext cx="310896" cy="31089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219237" y="1371600"/>
            <a:ext cx="333237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1" name="Shape 16"/>
          <p:cNvSpPr/>
          <p:nvPr/>
        </p:nvSpPr>
        <p:spPr>
          <a:xfrm>
            <a:off x="8493557" y="1627632"/>
            <a:ext cx="502920" cy="502920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2" name="Text 17"/>
          <p:cNvSpPr/>
          <p:nvPr/>
        </p:nvSpPr>
        <p:spPr>
          <a:xfrm>
            <a:off x="8493557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9133637" y="1664208"/>
            <a:ext cx="22350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9133637" y="1901952"/>
            <a:ext cx="2235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ECL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493557" y="2395728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the two at portfolio level through IFRS 9 stress scenarios and Expected Credit Loss.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40080" y="379476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16385A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7" name="Shape 22"/>
          <p:cNvSpPr/>
          <p:nvPr/>
        </p:nvSpPr>
        <p:spPr>
          <a:xfrm>
            <a:off x="960120" y="4050792"/>
            <a:ext cx="457200" cy="457200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4151376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600200" y="3913632"/>
            <a:ext cx="96313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rule:  </a:t>
            </a:r>
            <a:r>
              <a:rPr lang="en-US" sz="13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macro panel is never joined to loan-level data. US borrower records carry no meaningful row-level link to Canadian indicators — the macro layer informs scenario design only. This standard IFRS 9 separation is what makes the </a:t>
            </a: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r>
              <a:rPr lang="en-US" sz="13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the dataset — the transferable contribution.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</a:t>
            </a:r>
            <a:r>
              <a:rPr lang="en-US" sz="115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accepted loans (Kaggle)  ·  Bank of Canada Valet API  ·  Statistics Canada (unemployment, CPI, debt-service ratio, insolvencies)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clean, leakage-free training base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2522144" cy="1143000"/>
          </a:xfrm>
          <a:prstGeom prst="roundRect">
            <a:avLst>
              <a:gd name="adj" fmla="val 6400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4"/>
          <p:cNvSpPr/>
          <p:nvPr/>
        </p:nvSpPr>
        <p:spPr>
          <a:xfrm>
            <a:off x="640080" y="1444752"/>
            <a:ext cx="252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3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2.26M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49808" y="1975104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loans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36544" y="1280160"/>
            <a:ext cx="2522144" cy="1143000"/>
          </a:xfrm>
          <a:prstGeom prst="roundRect">
            <a:avLst>
              <a:gd name="adj" fmla="val 6400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0" name="Text 7"/>
          <p:cNvSpPr/>
          <p:nvPr/>
        </p:nvSpPr>
        <p:spPr>
          <a:xfrm>
            <a:off x="3436544" y="1444752"/>
            <a:ext cx="252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1.35M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546272" y="1975104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outcomes retained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33008" y="1280160"/>
            <a:ext cx="2522144" cy="1143000"/>
          </a:xfrm>
          <a:prstGeom prst="roundRect">
            <a:avLst>
              <a:gd name="adj" fmla="val 6400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3" name="Text 10"/>
          <p:cNvSpPr/>
          <p:nvPr/>
        </p:nvSpPr>
        <p:spPr>
          <a:xfrm>
            <a:off x="6233008" y="1444752"/>
            <a:ext cx="252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9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19.96%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342736" y="1975104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default rate (1:4)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029471" y="1280160"/>
            <a:ext cx="2522144" cy="1143000"/>
          </a:xfrm>
          <a:prstGeom prst="roundRect">
            <a:avLst>
              <a:gd name="adj" fmla="val 6400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6" name="Text 13"/>
          <p:cNvSpPr/>
          <p:nvPr/>
        </p:nvSpPr>
        <p:spPr>
          <a:xfrm>
            <a:off x="9029471" y="1444752"/>
            <a:ext cx="252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9139199" y="1975104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temporally stable features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2697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control: two distinct guardrails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0080" y="3108960"/>
            <a:ext cx="527288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0" name="Text 17"/>
          <p:cNvSpPr/>
          <p:nvPr/>
        </p:nvSpPr>
        <p:spPr>
          <a:xfrm>
            <a:off x="914400" y="3273552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C2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ENTIRELY — 22 cols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14400" y="3584448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Post-outcome fields — repayment totals, recoveries, last-payment dates, post-origination FICO pulls. Available only because the loan already resolved; training on them inflates performance to meaningless levels.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78728" y="3108960"/>
            <a:ext cx="527288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3" name="Text 20"/>
          <p:cNvSpPr/>
          <p:nvPr/>
        </p:nvSpPr>
        <p:spPr>
          <a:xfrm>
            <a:off x="6553048" y="3273552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E09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FOR EDA, NEVER MODELLED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553048" y="3584448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i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grade, sub-grade, interest rate</a:t>
            </a: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origination-time information, but modelling them predicts the lender’s own pre-computed judgement rather than borrower risk. Kept as EDA benchmarks only.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0080" y="47548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Cross-vintage audit:  </a:t>
            </a: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LendingClub’s schema evolved 2007–2018; each column was classified by missingness per vintage year, keeping only consistently available features.    </a:t>
            </a:r>
            <a:r>
              <a:rPr lang="en-US" sz="12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Sampling:  </a:t>
            </a: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on issue-year × default-flag — 100k dev sample for iteration, 500k production sample for final benchmarks.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Borrower-level findings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4"/>
          <p:cNvSpPr/>
          <p:nvPr/>
        </p:nvSpPr>
        <p:spPr>
          <a:xfrm>
            <a:off x="914400" y="1417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rate climbs monotonically with lender grade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22960" y="2011680"/>
          <a:ext cx="512064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914400" y="4937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is predictive — and precisely why it must be excluded to avoid circularity.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492240" y="1280160"/>
            <a:ext cx="5059375" cy="1298448"/>
          </a:xfrm>
          <a:prstGeom prst="roundRect">
            <a:avLst>
              <a:gd name="adj" fmla="val 5634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1" name="Shape 7"/>
          <p:cNvSpPr/>
          <p:nvPr/>
        </p:nvSpPr>
        <p:spPr>
          <a:xfrm>
            <a:off x="6748272" y="1554480"/>
            <a:ext cx="310896" cy="310896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7708" y="161391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23760" y="1481328"/>
            <a:ext cx="4099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purpose separates risk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223760" y="1828800"/>
            <a:ext cx="4099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(27.7%), renewable energy (25.3%) default most; car (16.0%) and wedding (16.2%) least — motivating a 3-tier purpose-risk feature.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92240" y="2697480"/>
            <a:ext cx="5059375" cy="1298448"/>
          </a:xfrm>
          <a:prstGeom prst="roundRect">
            <a:avLst>
              <a:gd name="adj" fmla="val 5634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6" name="Shape 11"/>
          <p:cNvSpPr/>
          <p:nvPr/>
        </p:nvSpPr>
        <p:spPr>
          <a:xfrm>
            <a:off x="6748272" y="2971800"/>
            <a:ext cx="310896" cy="310896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7708" y="3031236"/>
            <a:ext cx="192024" cy="1920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23760" y="2898648"/>
            <a:ext cx="4099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Vintage matters by year, not quarter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223760" y="3246120"/>
            <a:ext cx="4099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climbs ~13% (2008–09) to ~23% (2016–17) as standards loosened; calendar quarter spreads only 1.3pp.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92240" y="4114800"/>
            <a:ext cx="5059375" cy="1298448"/>
          </a:xfrm>
          <a:prstGeom prst="roundRect">
            <a:avLst>
              <a:gd name="adj" fmla="val 5634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1" name="Shape 15"/>
          <p:cNvSpPr/>
          <p:nvPr/>
        </p:nvSpPr>
        <p:spPr>
          <a:xfrm>
            <a:off x="6748272" y="4389120"/>
            <a:ext cx="310896" cy="310896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7708" y="4448556"/>
            <a:ext cx="192024" cy="1920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23760" y="4315968"/>
            <a:ext cx="4099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correlations are weak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7223760" y="4663440"/>
            <a:ext cx="4099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strongest protective (−0.129), DTI strongest risk (+0.093). Default is non-linear and multi-factor — the case for tree models.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Macroeconomic findings anchor the stress design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6492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4"/>
          <p:cNvSpPr/>
          <p:nvPr/>
        </p:nvSpPr>
        <p:spPr>
          <a:xfrm>
            <a:off x="914400" y="14173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Canadian unemployment, 2000–2026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22960" y="1874520"/>
          <a:ext cx="6126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7498080" y="1280160"/>
            <a:ext cx="4053535" cy="1965960"/>
          </a:xfrm>
          <a:prstGeom prst="roundRect">
            <a:avLst>
              <a:gd name="adj" fmla="val 3721"/>
            </a:avLst>
          </a:prstGeom>
          <a:solidFill>
            <a:srgbClr val="16385A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0" name="Text 6"/>
          <p:cNvSpPr/>
          <p:nvPr/>
        </p:nvSpPr>
        <p:spPr>
          <a:xfrm>
            <a:off x="7772400" y="146304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GFC = the stress anchor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0" y="1828800"/>
            <a:ext cx="3504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+2.7pp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7772400" y="2395728"/>
            <a:ext cx="3504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sustained unemployment rise in the 26-year panel (6.1% → 8.8%, 2008–09). The COVID spike (+8.7pp) was larger but artificial and rapidly reversed — a poor template for sustained credit stress.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498080" y="3474720"/>
            <a:ext cx="4053535" cy="1965960"/>
          </a:xfrm>
          <a:prstGeom prst="roundRect">
            <a:avLst>
              <a:gd name="adj" fmla="val 3721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4" name="Text 10"/>
          <p:cNvSpPr/>
          <p:nvPr/>
        </p:nvSpPr>
        <p:spPr>
          <a:xfrm>
            <a:off x="7772400" y="365760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elasticity is an assumption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772400" y="4005072"/>
            <a:ext cx="35048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Insolvencies co-move with unemployment in normal times and through the GFC — but decoupled during COVID, when transfers and payment deferrals severed the usual link. The PD–unemployment elasticity is therefore treated as a scenario assumption, not an estimated law.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Fifteen origination-time predictors, one source of truth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2036003" cy="1828800"/>
          </a:xfrm>
          <a:prstGeom prst="roundRect">
            <a:avLst>
              <a:gd name="adj" fmla="val 4000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4"/>
          <p:cNvSpPr/>
          <p:nvPr/>
        </p:nvSpPr>
        <p:spPr>
          <a:xfrm>
            <a:off x="822960" y="1481328"/>
            <a:ext cx="1670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1874520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Affordability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395728"/>
            <a:ext cx="1670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loan-to-income · DTI · loan amount · log income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58963" y="1325880"/>
            <a:ext cx="2036003" cy="1828800"/>
          </a:xfrm>
          <a:prstGeom prst="roundRect">
            <a:avLst>
              <a:gd name="adj" fmla="val 4000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1" name="Text 8"/>
          <p:cNvSpPr/>
          <p:nvPr/>
        </p:nvSpPr>
        <p:spPr>
          <a:xfrm>
            <a:off x="3041843" y="1481328"/>
            <a:ext cx="1670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041843" y="1874520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quality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041843" y="2395728"/>
            <a:ext cx="1670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(range midpoint) · revolving util. · open-acc band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77846" y="1325880"/>
            <a:ext cx="2036003" cy="1828800"/>
          </a:xfrm>
          <a:prstGeom prst="roundRect">
            <a:avLst>
              <a:gd name="adj" fmla="val 4000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5" name="Text 12"/>
          <p:cNvSpPr/>
          <p:nvPr/>
        </p:nvSpPr>
        <p:spPr>
          <a:xfrm>
            <a:off x="5260726" y="1481328"/>
            <a:ext cx="1670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260726" y="1874520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Derogatory flags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260726" y="2395728"/>
            <a:ext cx="1670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 flag · public-record flag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296729" y="1325880"/>
            <a:ext cx="2036003" cy="1828800"/>
          </a:xfrm>
          <a:prstGeom prst="roundRect">
            <a:avLst>
              <a:gd name="adj" fmla="val 4000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9" name="Text 16"/>
          <p:cNvSpPr/>
          <p:nvPr/>
        </p:nvSpPr>
        <p:spPr>
          <a:xfrm>
            <a:off x="7479609" y="1481328"/>
            <a:ext cx="1670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479609" y="1874520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Employment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479609" y="2395728"/>
            <a:ext cx="1670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years · short-tenure flag (&lt;1 yr)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515612" y="1325880"/>
            <a:ext cx="2036003" cy="1828800"/>
          </a:xfrm>
          <a:prstGeom prst="roundRect">
            <a:avLst>
              <a:gd name="adj" fmla="val 4000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3" name="Text 20"/>
          <p:cNvSpPr/>
          <p:nvPr/>
        </p:nvSpPr>
        <p:spPr>
          <a:xfrm>
            <a:off x="9698492" y="1481328"/>
            <a:ext cx="1670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9698492" y="1874520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&amp; vintage context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698492" y="2395728"/>
            <a:ext cx="1670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purpose-risk tier · home ownership · vintage year &amp; quarter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0080" y="338328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16385A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7" name="Text 24"/>
          <p:cNvSpPr/>
          <p:nvPr/>
        </p:nvSpPr>
        <p:spPr>
          <a:xfrm>
            <a:off x="914400" y="3566160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lesson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14400" y="3913632"/>
            <a:ext cx="4724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DTI, FICO, and revolving utilisation enter as raw continuous values rather than coarse bands — binning discarded signal and measurably lowered performance. Tree models choose their own split points. Encoding is ordinal (fitted on train only), not one-hot, since the champions are gradient-boosted trees.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278728" y="338328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0" name="Text 27"/>
          <p:cNvSpPr/>
          <p:nvPr/>
        </p:nvSpPr>
        <p:spPr>
          <a:xfrm>
            <a:off x="6553048" y="356616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split — train on history, test on the future</a:t>
            </a:r>
            <a:endParaRPr lang="en-US" sz="1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3048" y="4114800"/>
          <a:ext cx="4358487" cy="1097280"/>
        </p:xfrm>
        <a:graphic>
          <a:graphicData uri="http://schemas.openxmlformats.org/drawingml/2006/table">
            <a:tbl>
              <a:tblPr/>
              <a:tblGrid>
                <a:gridCol w="183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3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9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Vintages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2015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(out-of-time)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2017–18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Text 28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models, one evaluation framework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59436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4"/>
          <p:cNvSpPr/>
          <p:nvPr/>
        </p:nvSpPr>
        <p:spPr>
          <a:xfrm>
            <a:off x="914400" y="1463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Out-of-time validation performance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74520"/>
          <a:ext cx="5394960" cy="153619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8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8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8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8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 (champion)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914400" y="36118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Base-rate Brier reference: 0.1786 at a 23.3% default rate.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0" y="1325880"/>
            <a:ext cx="4602175" cy="2697480"/>
          </a:xfrm>
          <a:prstGeom prst="roundRect">
            <a:avLst>
              <a:gd name="adj" fmla="val 2712"/>
            </a:avLst>
          </a:prstGeom>
          <a:solidFill>
            <a:srgbClr val="16385A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1" name="Text 7"/>
          <p:cNvSpPr/>
          <p:nvPr/>
        </p:nvSpPr>
        <p:spPr>
          <a:xfrm>
            <a:off x="7223760" y="1481328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feature-set ceiling, not a tuning limit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223760" y="2057400"/>
            <a:ext cx="4053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boosters tie to four decimals from entirely different configurations </a:t>
            </a: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(XGBoost: 230 depth-4 trees; LightGBM: 591 trees at 15 leaves)</a:t>
            </a:r>
            <a:r>
              <a:rPr lang="en-US" sz="12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Independent searches converging on the same score is evidence of a stable ceiling set by the leakage-free feature set — the intended price of excluding the lender’s own risk pricing.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10911535" cy="1234440"/>
          </a:xfrm>
          <a:prstGeom prst="roundRect">
            <a:avLst>
              <a:gd name="adj" fmla="val 5926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4" name="Text 10"/>
          <p:cNvSpPr/>
          <p:nvPr/>
        </p:nvSpPr>
        <p:spPr>
          <a:xfrm>
            <a:off x="960120" y="4370832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= XGBoost  </a:t>
            </a: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parsimony (230 vs 591 trees — lighter to deploy and monitor) and a marginally better Brier; Logistic Regression is kept as an interpretable benchmark.    </a:t>
            </a:r>
            <a:r>
              <a:rPr lang="en-US" sz="13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Dollar-weighted operating threshold (0.490)  </a:t>
            </a: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69% of future defaulters — diagnostic only; the IFRS 9 framework consumes continuous PDs.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RESULT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— turning scores into valid PDs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4"/>
          <p:cNvSpPr/>
          <p:nvPr/>
        </p:nvSpPr>
        <p:spPr>
          <a:xfrm>
            <a:off x="914400" y="1463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curve — before vs after isotonic calibration</a:t>
            </a:r>
            <a:endParaRPr lang="en-US" sz="13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777240" y="1874520"/>
          <a:ext cx="57150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7040880" y="1371600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weighting inflates raw probabilities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040880" y="1783080"/>
            <a:ext cx="45107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champion’s raw Brier (0.2254) was worse than a constant base-rate guess — loans scored ~55% PD defaulted only ~26% of the time. Used directly in ECL, these would overstate provisions materially.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040880" y="2834640"/>
            <a:ext cx="4510735" cy="1234440"/>
          </a:xfrm>
          <a:prstGeom prst="roundRect">
            <a:avLst>
              <a:gd name="adj" fmla="val 5926"/>
            </a:avLst>
          </a:prstGeom>
          <a:solidFill>
            <a:srgbClr val="16385A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2" name="Text 8"/>
          <p:cNvSpPr/>
          <p:nvPr/>
        </p:nvSpPr>
        <p:spPr>
          <a:xfrm>
            <a:off x="7315200" y="3017520"/>
            <a:ext cx="3962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strike="sngStrike" dirty="0">
                <a:solidFill>
                  <a:srgbClr val="C25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0.2254</a:t>
            </a:r>
            <a:r>
              <a:rPr lang="en-US" sz="2000" dirty="0">
                <a:solidFill>
                  <a:srgbClr val="9DB2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→   </a:t>
            </a:r>
            <a:r>
              <a:rPr lang="en-US" sz="3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0.1576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7315200" y="3584448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Post-calibration Brier beats the 0.1676 base rate — the single result that licenses multiplying PDs by dollars.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040880" y="4206240"/>
            <a:ext cx="4510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regression is monotonic</a:t>
            </a: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AUC, KS, and Gini are untouched; only the probability scale is corrected.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Discrimination is real, stable, and honestly bounded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4"/>
          <p:cNvSpPr/>
          <p:nvPr/>
        </p:nvSpPr>
        <p:spPr>
          <a:xfrm>
            <a:off x="640080" y="1600200"/>
            <a:ext cx="345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0.6726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345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AUC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633472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out-of-time 2017–18 vintages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68698" y="137160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1" name="Text 8"/>
          <p:cNvSpPr/>
          <p:nvPr/>
        </p:nvSpPr>
        <p:spPr>
          <a:xfrm>
            <a:off x="4368698" y="1600200"/>
            <a:ext cx="345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63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0.6725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4368698" y="2286000"/>
            <a:ext cx="345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vintage AUC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60138" y="2633472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degradation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97317" y="137160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5" name="Text 12"/>
          <p:cNvSpPr/>
          <p:nvPr/>
        </p:nvSpPr>
        <p:spPr>
          <a:xfrm>
            <a:off x="8097317" y="1600200"/>
            <a:ext cx="345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63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0.6668</a:t>
            </a:r>
            <a:endParaRPr lang="en-US" sz="4200" dirty="0"/>
          </a:p>
        </p:txBody>
      </p:sp>
      <p:sp>
        <p:nvSpPr>
          <p:cNvPr id="16" name="Text 13"/>
          <p:cNvSpPr/>
          <p:nvPr/>
        </p:nvSpPr>
        <p:spPr>
          <a:xfrm>
            <a:off x="8097317" y="2286000"/>
            <a:ext cx="345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vintage AUC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88757" y="2633472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sampling noise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3429000"/>
            <a:ext cx="10911535" cy="1783080"/>
          </a:xfrm>
          <a:prstGeom prst="roundRect">
            <a:avLst>
              <a:gd name="adj" fmla="val 4103"/>
            </a:avLst>
          </a:prstGeom>
          <a:solidFill>
            <a:srgbClr val="16385A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9" name="Shape 16"/>
          <p:cNvSpPr/>
          <p:nvPr/>
        </p:nvSpPr>
        <p:spPr>
          <a:xfrm>
            <a:off x="1005840" y="3794760"/>
            <a:ext cx="868680" cy="868680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4050792"/>
            <a:ext cx="356616" cy="35661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103120" y="3657600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~0.67 ceiling belongs to the feature set, not the algorithm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2103120" y="4160520"/>
            <a:ext cx="9082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hyperparameter searches converging on identical validation AUC from different architectures shows the plateau is a property of the leakage-free origination feature set — the deliberate, honest price of excluding the lender’s own risk pricing. The model generalises across loan cohorts rather than memorising one economic period.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— the model relies on economically meaningful drivers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61264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4"/>
          <p:cNvSpPr/>
          <p:nvPr/>
        </p:nvSpPr>
        <p:spPr>
          <a:xfrm>
            <a:off x="914400" y="1463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feature importance (mean |SHAP|)</a:t>
            </a:r>
            <a:endParaRPr lang="en-US" sz="13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68680" y="1828800"/>
          <a:ext cx="57607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7132320" y="1325880"/>
            <a:ext cx="4419295" cy="1298448"/>
          </a:xfrm>
          <a:prstGeom prst="roundRect">
            <a:avLst>
              <a:gd name="adj" fmla="val 5634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0" name="Text 6"/>
          <p:cNvSpPr/>
          <p:nvPr/>
        </p:nvSpPr>
        <p:spPr>
          <a:xfrm>
            <a:off x="7406640" y="1508760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406640" y="1801368"/>
            <a:ext cx="38706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quality and affordability dominate — FICO, loan-to-income, DTI — with engineered features (home ownership, purpose tier, vintage) contributing meaningfully.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132320" y="2743200"/>
            <a:ext cx="4419295" cy="1298448"/>
          </a:xfrm>
          <a:prstGeom prst="roundRect">
            <a:avLst>
              <a:gd name="adj" fmla="val 5634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3" name="Text 9"/>
          <p:cNvSpPr/>
          <p:nvPr/>
        </p:nvSpPr>
        <p:spPr>
          <a:xfrm>
            <a:off x="7406640" y="2926080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DIRECTIONALLY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06640" y="3218688"/>
            <a:ext cx="38706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leverage and indebtedness push risk up; stronger FICO, income, and tenure pull it down — consistent with credit theory.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132320" y="4160520"/>
            <a:ext cx="4419295" cy="1298448"/>
          </a:xfrm>
          <a:prstGeom prst="roundRect">
            <a:avLst>
              <a:gd name="adj" fmla="val 5634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6" name="Text 12"/>
          <p:cNvSpPr/>
          <p:nvPr/>
        </p:nvSpPr>
        <p:spPr>
          <a:xfrm>
            <a:off x="7406640" y="4343400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406640" y="4636008"/>
            <a:ext cx="38706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waterfall plot decomposes any single decision into exact feature contributions — the auditable rationale an adverse-action notice requires.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ECL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allowance — and the value of the model in dollars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57607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4"/>
          <p:cNvSpPr/>
          <p:nvPr/>
        </p:nvSpPr>
        <p:spPr>
          <a:xfrm>
            <a:off x="914400" y="14630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rises sharply with credit deterioration</a:t>
            </a:r>
            <a:endParaRPr lang="en-US" sz="13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22960" y="1920240"/>
          <a:ext cx="53949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6766560" y="1325880"/>
            <a:ext cx="4785055" cy="1371600"/>
          </a:xfrm>
          <a:prstGeom prst="roundRect">
            <a:avLst>
              <a:gd name="adj" fmla="val 5333"/>
            </a:avLst>
          </a:prstGeom>
          <a:solidFill>
            <a:srgbClr val="16385A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0" name="Text 6"/>
          <p:cNvSpPr/>
          <p:nvPr/>
        </p:nvSpPr>
        <p:spPr>
          <a:xfrm>
            <a:off x="7040880" y="1481328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allowance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040880" y="1783080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$56.8M</a:t>
            </a:r>
            <a:r>
              <a:rPr lang="en-US" sz="1400" dirty="0">
                <a:solidFill>
                  <a:srgbClr val="9DB2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23.5% coverage</a:t>
            </a:r>
            <a:endParaRPr lang="en-US" sz="3400" dirty="0"/>
          </a:p>
        </p:txBody>
      </p:sp>
      <p:sp>
        <p:nvSpPr>
          <p:cNvPr id="12" name="Text 8"/>
          <p:cNvSpPr/>
          <p:nvPr/>
        </p:nvSpPr>
        <p:spPr>
          <a:xfrm>
            <a:off x="7040880" y="233172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$242.1M held-out test portfolio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766560" y="2834640"/>
            <a:ext cx="4785055" cy="1280160"/>
          </a:xfrm>
          <a:prstGeom prst="roundRect">
            <a:avLst>
              <a:gd name="adj" fmla="val 5714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4" name="Text 10"/>
          <p:cNvSpPr/>
          <p:nvPr/>
        </p:nvSpPr>
        <p:spPr>
          <a:xfrm>
            <a:off x="7040880" y="297180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 naive flat-rate reserve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040880" y="3291840"/>
            <a:ext cx="4236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$23.2M</a:t>
            </a:r>
            <a:r>
              <a:rPr lang="en-US" sz="1300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held — </a:t>
            </a:r>
            <a:r>
              <a:rPr lang="en-US" sz="1400" b="1" dirty="0">
                <a:solidFill>
                  <a:srgbClr val="C25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59% less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7040880" y="3703320"/>
            <a:ext cx="4236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treats impaired loans like performing ones and ignores lifetime risk concentrated in SICR.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766560" y="4251960"/>
            <a:ext cx="47850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model’s value is risk differentiation</a:t>
            </a: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directing provisions to the loans most likely to generate losses while avoiding unnecessary reserving on low-risk exposures.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Provisions under scenarios anchored in Canadian history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4"/>
          <p:cNvSpPr/>
          <p:nvPr/>
        </p:nvSpPr>
        <p:spPr>
          <a:xfrm>
            <a:off x="914400" y="1463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IFRS 9 Expected Credit Loss by scenario</a:t>
            </a:r>
            <a:endParaRPr lang="en-US" sz="13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22960" y="1920240"/>
          <a:ext cx="5669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7040880" y="1325880"/>
            <a:ext cx="2141068" cy="1554480"/>
          </a:xfrm>
          <a:prstGeom prst="roundRect">
            <a:avLst>
              <a:gd name="adj" fmla="val 4706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0" name="Text 6"/>
          <p:cNvSpPr/>
          <p:nvPr/>
        </p:nvSpPr>
        <p:spPr>
          <a:xfrm>
            <a:off x="7223760" y="1463040"/>
            <a:ext cx="1775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E09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(GFC REPLAY)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223760" y="1755648"/>
            <a:ext cx="17753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9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+15.5%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7223760" y="2304288"/>
            <a:ext cx="1775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+$8.8M of required provisions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9410548" y="1325880"/>
            <a:ext cx="2141068" cy="1554480"/>
          </a:xfrm>
          <a:prstGeom prst="roundRect">
            <a:avLst>
              <a:gd name="adj" fmla="val 4706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4" name="Text 10"/>
          <p:cNvSpPr/>
          <p:nvPr/>
        </p:nvSpPr>
        <p:spPr>
          <a:xfrm>
            <a:off x="9593428" y="1463040"/>
            <a:ext cx="1775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2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SEVERELY ADVERSE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9593428" y="1755648"/>
            <a:ext cx="17753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25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+29.0%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9593428" y="2304288"/>
            <a:ext cx="1775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+$16.5M; beyond-sample at ~1.7× the GFC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040880" y="3017520"/>
            <a:ext cx="4510735" cy="2423160"/>
          </a:xfrm>
          <a:prstGeom prst="roundRect">
            <a:avLst>
              <a:gd name="adj" fmla="val 3019"/>
            </a:avLst>
          </a:prstGeom>
          <a:solidFill>
            <a:srgbClr val="16385A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8" name="Text 14"/>
          <p:cNvSpPr/>
          <p:nvPr/>
        </p:nvSpPr>
        <p:spPr>
          <a:xfrm>
            <a:off x="7315200" y="3182112"/>
            <a:ext cx="3962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channels lift provisions at once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315200" y="3529584"/>
            <a:ext cx="3962095" cy="1051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PD lifts (+10% relative per +1pp unemployment)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migrate Stage 1 → Stage 2 across the fixed SICR line, switching from 12-month to lifetime ECL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population roughly doubles: 2,514 → 5,022</a:t>
            </a:r>
            <a:endParaRPr lang="en-US" sz="125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stays fixed at 3,571 — impairment is realised, not scenario-dependent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7315200" y="5029200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D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Anchored, not round: Adverse replays the GFC exactly; Severe is deliberately beyond-sample.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client should do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10911535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Shape 4"/>
          <p:cNvSpPr/>
          <p:nvPr/>
        </p:nvSpPr>
        <p:spPr>
          <a:xfrm>
            <a:off x="960120" y="1737360"/>
            <a:ext cx="566928" cy="566928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87452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7D2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2103120" y="1591056"/>
            <a:ext cx="9174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 model-based, staged provisioning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2103120" y="1975104"/>
            <a:ext cx="91741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flat-rate reserving — price risk where it sits (8.0% / 41.1% / 45.0% coverage across stages). Begin with a parallel run, reconciling allowances quarterly before cut-over.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2816352"/>
            <a:ext cx="10911535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3" name="Shape 9"/>
          <p:cNvSpPr/>
          <p:nvPr/>
        </p:nvSpPr>
        <p:spPr>
          <a:xfrm>
            <a:off x="960120" y="3182112"/>
            <a:ext cx="566928" cy="566928"/>
          </a:xfrm>
          <a:prstGeom prst="ellipse">
            <a:avLst/>
          </a:prstGeom>
          <a:solidFill>
            <a:srgbClr val="E0913B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319272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7D2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2103120" y="3035808"/>
            <a:ext cx="9174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Pre-position a stress buffer; monitor SICR migration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2103120" y="3419856"/>
            <a:ext cx="91741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+$8.8M (GFC) to +$16.5M (severe) of provisions on a $242M book. Track the count of loans approaching the SICR threshold monthly — it moves before losses do.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" y="4261104"/>
            <a:ext cx="10911535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9" name="Shape 14"/>
          <p:cNvSpPr/>
          <p:nvPr/>
        </p:nvSpPr>
        <p:spPr>
          <a:xfrm>
            <a:off x="960120" y="4626864"/>
            <a:ext cx="566928" cy="566928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4764024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91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7D2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2103120" y="4480560"/>
            <a:ext cx="9174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Recalibrate assumptions to internal data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2103120" y="4864608"/>
            <a:ext cx="91741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LGD (45%), the lifetime multiplier (2.5×), and the PD–unemployment elasticity (10%/pp) are industry placeholders. Replace with figures from the institution’s own loss history; re-fit the calibrator on the live book.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CONSIDERATIONS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Suggestions for improvement &amp; further research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5272888" cy="1234440"/>
          </a:xfrm>
          <a:prstGeom prst="roundRect">
            <a:avLst>
              <a:gd name="adj" fmla="val 5926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Shape 4"/>
          <p:cNvSpPr/>
          <p:nvPr/>
        </p:nvSpPr>
        <p:spPr>
          <a:xfrm>
            <a:off x="896112" y="1609344"/>
            <a:ext cx="310896" cy="310896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" y="1668780"/>
            <a:ext cx="192024" cy="1920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53312" y="1554480"/>
            <a:ext cx="431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 the feature-set ceiling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353312" y="1883664"/>
            <a:ext cx="431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Credit-bureau trade-lines, behavioural or alternative data attack the binding ~0.67 constraint directly — a data problem, not a model problem.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2724912"/>
            <a:ext cx="5272888" cy="1234440"/>
          </a:xfrm>
          <a:prstGeom prst="roundRect">
            <a:avLst>
              <a:gd name="adj" fmla="val 5926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2" name="Shape 8"/>
          <p:cNvSpPr/>
          <p:nvPr/>
        </p:nvSpPr>
        <p:spPr>
          <a:xfrm>
            <a:off x="896112" y="2962656"/>
            <a:ext cx="310896" cy="310896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" y="3022092"/>
            <a:ext cx="192024" cy="1920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53312" y="2907792"/>
            <a:ext cx="431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the lifetime PD term structure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53312" y="3236976"/>
            <a:ext cx="431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2.5× approximation with survival analysis (Cox / discrete-time hazard) for exact, month-by-month lifetime ECL.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078224"/>
            <a:ext cx="5272888" cy="1417320"/>
          </a:xfrm>
          <a:prstGeom prst="roundRect">
            <a:avLst>
              <a:gd name="adj" fmla="val 5161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7" name="Shape 12"/>
          <p:cNvSpPr/>
          <p:nvPr/>
        </p:nvSpPr>
        <p:spPr>
          <a:xfrm>
            <a:off x="896112" y="4315968"/>
            <a:ext cx="310896" cy="310896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" y="4375404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53312" y="4261104"/>
            <a:ext cx="431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the macro elasticity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353312" y="4590288"/>
            <a:ext cx="431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 vintage-level default rates on the Canadian panel (handling the COVID decoupling), allowing non-linear, regime-dependent responses — home of the originally scoped SARIMAX / Prophet work.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78728" y="1371600"/>
            <a:ext cx="5272888" cy="1920240"/>
          </a:xfrm>
          <a:prstGeom prst="roundRect">
            <a:avLst>
              <a:gd name="adj" fmla="val 3810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2" name="Shape 16"/>
          <p:cNvSpPr/>
          <p:nvPr/>
        </p:nvSpPr>
        <p:spPr>
          <a:xfrm>
            <a:off x="6534760" y="1609344"/>
            <a:ext cx="310896" cy="310896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196" y="1668780"/>
            <a:ext cx="192024" cy="1920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91960" y="1554480"/>
            <a:ext cx="431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hardening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991960" y="1883664"/>
            <a:ext cx="43127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monitoring, scheduled recalibration, champion–challenger governance, fairness testing, and a lightweight interactive scoring / stress app for risk committees.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278728" y="3438144"/>
            <a:ext cx="5272888" cy="1947672"/>
          </a:xfrm>
          <a:prstGeom prst="roundRect">
            <a:avLst>
              <a:gd name="adj" fmla="val 3756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7" name="Shape 20"/>
          <p:cNvSpPr/>
          <p:nvPr/>
        </p:nvSpPr>
        <p:spPr>
          <a:xfrm>
            <a:off x="6534760" y="3675888"/>
            <a:ext cx="310896" cy="310896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196" y="3735324"/>
            <a:ext cx="192024" cy="19202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991960" y="3621024"/>
            <a:ext cx="431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Canadian-native validation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6991960" y="3950208"/>
            <a:ext cx="431276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a credit union to re-estimate on domestic loan-performance data, closing the US-train / Canada-deploy geographic gap.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474720"/>
            <a:ext cx="5486400" cy="5486400"/>
          </a:xfrm>
          <a:prstGeom prst="ellipse">
            <a:avLst/>
          </a:prstGeom>
          <a:solidFill>
            <a:srgbClr val="16385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9692640" y="-2194560"/>
            <a:ext cx="4937760" cy="4937760"/>
          </a:xfrm>
          <a:prstGeom prst="ellipse">
            <a:avLst/>
          </a:prstGeom>
          <a:solidFill>
            <a:srgbClr val="16385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Shape 2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0E8C8C">
              <a:alpha val="55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77240" cy="777240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16596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14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LESSON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is not the product —
</a:t>
            </a:r>
            <a:r>
              <a:rPr lang="en-US" sz="4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provision number is.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40080" y="44348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modest, honestly bounded AUC, once calibrated, allocates reserves to the loans that actually generate losses, flags significant increases in credit risk before they become defaults, and quantifies the capital a downturn would require — the three things a flat rate cannot do.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5806440"/>
            <a:ext cx="6766560" cy="0"/>
          </a:xfrm>
          <a:prstGeom prst="line">
            <a:avLst/>
          </a:prstGeom>
          <a:noFill/>
          <a:ln w="12700">
            <a:solidFill>
              <a:srgbClr val="33506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8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Ikechukwu Jumbo</a:t>
            </a: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github.com/MIJUMBO/consumer-credit-risk-modelling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3070</Words>
  <Application>Microsoft Office PowerPoint</Application>
  <PresentationFormat>Widescreen</PresentationFormat>
  <Paragraphs>293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Consumer Credit Risk Modelling — Capstone</dc:title>
  <dc:subject>PptxGenJS Presentation</dc:subject>
  <dc:creator>Michael Ikechukwu Jumbo</dc:creator>
  <cp:lastModifiedBy>Michael J</cp:lastModifiedBy>
  <cp:revision>1</cp:revision>
  <dcterms:created xsi:type="dcterms:W3CDTF">2026-06-13T13:23:33Z</dcterms:created>
  <dcterms:modified xsi:type="dcterms:W3CDTF">2026-06-13T15:26:05Z</dcterms:modified>
</cp:coreProperties>
</file>